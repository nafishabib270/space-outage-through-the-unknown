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142050">
              <a:alpha val="70000"/>
            </a:srgbClr>
          </a:solidFill>
          <a:ln w="12700">
            <a:solidFill>
              <a:srgbClr val="142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3A86FF">
              <a:alpha val="30000"/>
            </a:srgbClr>
          </a:solidFill>
          <a:ln w="12700">
            <a:solidFill>
              <a:srgbClr val="3A86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85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D6A0"/>
                </a:solidFill>
              </a:rPr>
              <a:t>SOFTWARE ENGINEERING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72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GeoWorld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3A8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Space Outage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DA9C4"/>
                </a:solidFill>
              </a:rPr>
              <a:t>A 2D Side-Scrolling Action Game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Refactored with  MVC Architecture  &amp;  SOLID Principles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C++17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9384" y="3931920"/>
            <a:ext cx="1280160" cy="292608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29384" y="393192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raylib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55848" y="3931920"/>
            <a:ext cx="1280160" cy="292608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55848" y="393192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CMake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82312" y="3931920"/>
            <a:ext cx="1280160" cy="292608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82312" y="393192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MVC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08776" y="3931920"/>
            <a:ext cx="1280160" cy="292608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08776" y="393192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SOLID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3931920"/>
            <a:ext cx="1280160" cy="292608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35240" y="3931920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 Actions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</a:rPr>
              <a:t>S M Nazzashi Ahmed Kabbo |  Student ID: 240218 </a:t>
            </a:r>
            <a:endParaRPr lang="en-US" sz="1000" dirty="0">
              <a:solidFill>
                <a:srgbClr val="8DA9C4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</a:rPr>
              <a:t>Nafis Habib | Student ID: 240225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Why Refactor?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DA9C4"/>
                </a:solidFill>
              </a:rPr>
              <a:t>The original C codebase was working — but barely maintainable.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743200" cy="123444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54864" cy="123444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5564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~30 Global Variables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084832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</a:rPr>
              <a:t>State scattered across the entire file — impossible to trace ownership.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2743200" cy="123444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645920"/>
            <a:ext cx="54864" cy="123444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75564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Double-Update Bug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2152" y="2084832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</a:rPr>
              <a:t>alien_timer += dt called twice per frame, corrupting spawn timing.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743200" cy="123444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45920"/>
            <a:ext cx="54864" cy="123444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75564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Double Unload Crash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2512" y="2084832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</a:rPr>
              <a:t>UnloadTexture(spaceship) called twice, causing undefined behaviour.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743200" cy="123444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17520"/>
            <a:ext cx="54864" cy="123444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12724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 Copy-Pasted Loops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3456432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</a:rPr>
              <a:t>Identical collision loops repeated 6 times — any fix needed 6 edits.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017520"/>
            <a:ext cx="2743200" cy="123444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3017520"/>
            <a:ext cx="54864" cy="123444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312724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srand() at 120 FPS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02152" y="3456432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</a:rPr>
              <a:t>Random seed reset every frame, making RNG completely predictable.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017520"/>
            <a:ext cx="2743200" cy="123444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017520"/>
            <a:ext cx="54864" cy="123444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312724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Flat 40+ File Structure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82512" y="3456432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9C4"/>
                </a:solidFill>
              </a:rPr>
              <a:t>No separation of concerns — logic, rendering, input all tangled together.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3E"/>
                </a:solidFill>
              </a:rPr>
              <a:t>Project Overview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4023360" cy="54864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</a:rPr>
              <a:t>What Is GeoWorld?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84048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2D side-scrolling action game built in C++17 + raylib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Two-phase gameplay: Spaceship → Astronaut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Homing drones, ground aliens, physics &amp; bullets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Pre-built Windows release — no install needed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Auto-built for Windows &amp; Linux via GitHub Actions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4023360" cy="54864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716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</a:rPr>
              <a:t>Phase 1 — Spaceship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</a:rPr>
              <a:t>Fly with WASD · Left-click fires right · Survive homing drones · Ship crashes at zero health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402336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971800"/>
            <a:ext cx="402336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1089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</a:rPr>
              <a:t>Phase 2 — Astronaut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47472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</a:rPr>
              <a:t>Walk &amp; jump with WASD · Aim toward mouse · Fight drones + ground aliens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4709160"/>
            <a:ext cx="4023360" cy="548640"/>
          </a:xfrm>
          <a:prstGeom prst="rect">
            <a:avLst/>
          </a:prstGeom>
          <a:solidFill>
            <a:srgbClr val="0D1B3E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470916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</a:rPr>
              <a:t>Controls:  WASD · Left Mouse · L (god mode) · ESC (quit)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REFACTORING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Before vs After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36576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 — Flat C Codebase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023360" cy="3291840"/>
          </a:xfrm>
          <a:prstGeom prst="rect">
            <a:avLst/>
          </a:prstGeom>
          <a:solidFill>
            <a:srgbClr val="1A0A0A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691640"/>
            <a:ext cx="374904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9999"/>
                </a:solidFill>
              </a:rPr>
              <a:t>~30 global variables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9999"/>
                </a:solidFill>
              </a:rPr>
              <a:t>40+ files with no 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9999"/>
                </a:solidFill>
              </a:rPr>
              <a:t>Logic, rendering, input mixed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9999"/>
                </a:solidFill>
              </a:rPr>
              <a:t>6 copy-pasted collision loops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9999"/>
                </a:solidFill>
              </a:rPr>
              <a:t>Double bug: srand() every frame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9999"/>
                </a:solidFill>
              </a:rPr>
              <a:t>Double unload crash (textures)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9999"/>
                </a:solidFill>
              </a:rPr>
              <a:t>DrawHealthBar() inside main()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9999"/>
                </a:solidFill>
              </a:rPr>
              <a:t>No interfaces or abstractions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2344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AFTER — MVC + SOLID Architecture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3291840"/>
          </a:xfrm>
          <a:prstGeom prst="rect">
            <a:avLst/>
          </a:prstGeom>
          <a:solidFill>
            <a:srgbClr val="0A1A12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691640"/>
            <a:ext cx="374904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FFD0"/>
                </a:solidFill>
              </a:rPr>
              <a:t>Zero globals — all state is owned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FFD0"/>
                </a:solidFill>
              </a:rPr>
              <a:t>7 modules, clear responsibility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FFD0"/>
                </a:solidFill>
              </a:rPr>
              <a:t>Model / View / Controller separated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FFD0"/>
                </a:solidFill>
              </a:rPr>
              <a:t>1 CollisionSystem method reused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FFD0"/>
                </a:solidFill>
              </a:rPr>
              <a:t>srand() called once in constructor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FFD0"/>
                </a:solidFill>
              </a:rPr>
              <a:t>RAII ResourceManager destructor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FFD0"/>
                </a:solidFill>
              </a:rPr>
              <a:t>HUD::drawHealthBar() in View layer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9FFD0"/>
                </a:solidFill>
              </a:rPr>
              <a:t>4 minimal interfaces (ISP applied)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07992" y="2880360"/>
            <a:ext cx="128016" cy="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606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703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3E"/>
                </a:solidFill>
              </a:rPr>
              <a:t>Why MVC Architecture?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920240" cy="411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INPUT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192024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755648"/>
            <a:ext cx="1737360" cy="1298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Keyboard · Mouse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234440"/>
            <a:ext cx="1920240" cy="411480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12344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1664208"/>
            <a:ext cx="192024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755648"/>
            <a:ext cx="1737360" cy="1298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GameController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SpaceshipCtrl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AstronautCtrl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InputHandler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234440"/>
            <a:ext cx="1920240" cy="41148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2344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MODEL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1664208"/>
            <a:ext cx="192024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755648"/>
            <a:ext cx="1737360" cy="1298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GameModel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PhysicsSystem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CollisionSystem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SessionStats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234440"/>
            <a:ext cx="192024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2344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12280" y="1664208"/>
            <a:ext cx="192024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755648"/>
            <a:ext cx="1737360" cy="1298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GameRenderer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HUD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MenuView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ThrusterEffect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75688" y="12984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DA9C4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15968" y="12984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DA9C4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56248" y="12984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DA9C4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20240" y="166420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69664" y="166420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274320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383280"/>
            <a:ext cx="64008" cy="1463040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49300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Separation of Concerns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858768"/>
            <a:ext cx="251460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Model owns all state. View only reads (const&amp;). Controller only writes. No bleed between layers.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55848" y="3383280"/>
            <a:ext cx="274320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55848" y="3383280"/>
            <a:ext cx="64008" cy="146304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349300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Testability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93008" y="3858768"/>
            <a:ext cx="251460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Mock GameModel independently. Test GameRenderer without rendering. Each layer is isolated.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54496" y="3383280"/>
            <a:ext cx="274320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54496" y="3383280"/>
            <a:ext cx="64008" cy="1463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349300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Extensibility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91656" y="3858768"/>
            <a:ext cx="251460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</a:rPr>
              <a:t>Add a new enemy? Create entity, register in Model, render in View — zero changes elsewhere.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SOLID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SOLID Principles Applied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548640" cy="54864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075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3075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Single Responsibility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581912"/>
            <a:ext cx="7498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</a:rPr>
              <a:t>SessionStats tracks numbers only. HUD draws UI only. PhysicsSystem computes movement only. Each class has exactly one reason to change.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" y="1947672"/>
            <a:ext cx="7498080" cy="0"/>
          </a:xfrm>
          <a:prstGeom prst="line">
            <a:avLst/>
          </a:prstGeom>
          <a:noFill/>
          <a:ln w="10160">
            <a:solidFill>
              <a:srgbClr val="1E3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0574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 / Closed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331720"/>
            <a:ext cx="7498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</a:rPr>
              <a:t>Add ShieldedEnemy : ICollidable in a new file — CollisionSystem, GameModel, and all spawners remain completely untouched.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43000" y="2697480"/>
            <a:ext cx="7498080" cy="0"/>
          </a:xfrm>
          <a:prstGeom prst="line">
            <a:avLst/>
          </a:prstGeom>
          <a:noFill/>
          <a:ln w="10160">
            <a:solidFill>
              <a:srgbClr val="1E3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07208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80720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8072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Liskov Substitution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081528"/>
            <a:ext cx="7498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</a:rPr>
              <a:t>HomingEnemy* and GroundAlien* both substitute as ICollidable* in CollisionSystem with identical, correct behaviour.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43000" y="3447288"/>
            <a:ext cx="7498080" cy="0"/>
          </a:xfrm>
          <a:prstGeom prst="line">
            <a:avLst/>
          </a:prstGeom>
          <a:noFill/>
          <a:ln w="10160">
            <a:solidFill>
              <a:srgbClr val="1E3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57016"/>
            <a:ext cx="548640" cy="54864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55701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5570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Interface Segregation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831336"/>
            <a:ext cx="7498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</a:rPr>
              <a:t>Four minimal interfaces: ICollidable, IRenderable, IUpdatable, IObserver. ThrusterEffect is never forced to implement collision methods.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43000" y="4197096"/>
            <a:ext cx="7498080" cy="0"/>
          </a:xfrm>
          <a:prstGeom prst="line">
            <a:avLst/>
          </a:prstGeom>
          <a:noFill/>
          <a:ln w="10160">
            <a:solidFill>
              <a:srgbClr val="1E3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06824"/>
            <a:ext cx="548640" cy="548640"/>
          </a:xfrm>
          <a:prstGeom prst="ellipse">
            <a:avLst/>
          </a:prstGeom>
          <a:solidFill>
            <a:srgbClr val="FF8C69"/>
          </a:solidFill>
          <a:ln w="12700">
            <a:solidFill>
              <a:srgbClr val="FF8C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30682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430682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Dependency Inversion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581144"/>
            <a:ext cx="7498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</a:rPr>
              <a:t>CollisionSystem accepts ICollidable*. GameController receives GameModel&amp; and GameRenderer&amp;. ResourceManager injected via constructor — zero globals.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COMPONENTS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3E"/>
                </a:solidFill>
              </a:rPr>
              <a:t>Component Design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4114800" cy="384048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27101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Models/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32588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A1628"/>
                </a:solidFill>
              </a:rPr>
              <a:t>Game Logic &amp; State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GameModel — coordinates all systems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PhysicsSystem — movement &amp; jump math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CollisionSystem — overlap &amp; damage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EnemySpawner / AlienSpawner — timed spawn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BulletPool — object pooling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SessionStats — score, health, level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148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411480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0328" y="127101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Views/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132588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A1628"/>
                </a:solidFill>
              </a:rPr>
              <a:t>Rendering (Read-Only)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709928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GameRenderer — main renderer (IObserver)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HUD — health bar + score display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MenuView — menu screen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ThrusterEffect — particle exhaust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1148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00400"/>
            <a:ext cx="4114800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23697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Controllers/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329184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A1628"/>
                </a:solidFill>
              </a:rPr>
              <a:t>Input &amp; Orchestration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675888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GameController — app loop, composition root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InputHandler — raw input polling 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SpaceshipController — spaceship →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AstronautController — astronaut → model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200400"/>
            <a:ext cx="41148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200400"/>
            <a:ext cx="4114800" cy="38404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0328" y="323697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Core/ + Infrastructure/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329184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A1628"/>
                </a:solidFill>
              </a:rPr>
              <a:t>Interfaces &amp; Assets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3675888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ICollidable, IRenderable, IUpdatable, IObserver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GameState enum + GameStateMachine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ResourceManager — RAII asset ownership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3E"/>
                </a:solidFill>
              </a:rPr>
              <a:t>Zero globals. All state privately owned.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How Data Flows at 120 FPS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89304"/>
            <a:ext cx="566928" cy="5669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930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8720" y="1234440"/>
            <a:ext cx="7498080" cy="64008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25880" y="128016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INPUT POLLING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554480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</a:rPr>
              <a:t>InputHandler.poll() → InputSnapshot struct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92808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A9C4"/>
                </a:solidFill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566928" cy="566928"/>
          </a:xfrm>
          <a:prstGeom prst="ellipse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8720" y="1984248"/>
            <a:ext cx="7498080" cy="64008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25880" y="202996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5A3"/>
                </a:solidFill>
              </a:rPr>
              <a:t>INPUT 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304288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</a:rPr>
              <a:t>SpaceshipCtrl / AstronautCtrl reads snapshot → calls Model mutators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642616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A9C4"/>
                </a:solidFill>
              </a:rPr>
              <a:t>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566928" cy="566928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889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734056"/>
            <a:ext cx="7498080" cy="64008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25880" y="277977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6FF"/>
                </a:solidFill>
              </a:rPr>
              <a:t>MODEL UPDATE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054096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</a:rPr>
              <a:t>model.update(dt) → Physics → Collision → Spawners → BulletPool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392424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A9C4"/>
                </a:solidFill>
              </a:rPr>
              <a:t>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38728"/>
            <a:ext cx="566928" cy="5669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387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88720" y="3483864"/>
            <a:ext cx="7498080" cy="64008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325880" y="352958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</a:rPr>
              <a:t>NOTIFICATION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3803904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</a:rPr>
              <a:t>GameModel.notifyObservers() → GameRenderer.onModelChanged()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142232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A9C4"/>
                </a:solidFill>
              </a:rPr>
              <a:t>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88536"/>
            <a:ext cx="566928" cy="5669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8853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88720" y="4233672"/>
            <a:ext cx="7498080" cy="64008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325880" y="427939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RENDER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4553712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</a:rPr>
              <a:t>GameRenderer.render() reads const GameModel&amp; → never writes back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solidFill>
            <a:srgbClr val="1A55A3">
              <a:alpha val="80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Key Rule: Model never calls rendering. View never calls mutation methods. Controller is the only bridge.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3E"/>
                </a:solidFill>
              </a:rPr>
              <a:t>Key Technical Features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3258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Intercept 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746504"/>
            <a:ext cx="2514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</a:rPr>
              <a:t>HomingEnemy uses predictive intercept maths — not just 'fly toward player'.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1234440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65576" y="13258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95928" y="132588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Object Pooling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65576" y="1746504"/>
            <a:ext cx="2514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</a:rPr>
              <a:t>BulletPool recycles bullet objects to avoid per-frame heap allocation.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54496" y="1234440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13258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94576" y="132588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Observer Pattern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64224" y="1746504"/>
            <a:ext cx="2514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</a:rPr>
              <a:t>GameModel notifies GameRenderer via IObserver — no circular includes.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32888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26243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262432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RAII Resources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044952"/>
            <a:ext cx="2514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</a:rPr>
              <a:t>ResourceManager destructor auto-unloads all textures and sounds.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55848" y="2532888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65576" y="26243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95928" y="262432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Sprite Animation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65576" y="3044952"/>
            <a:ext cx="2514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</a:rPr>
              <a:t>GroundAlien uses an 8-frame sprite sheet cycled by AlienSpawner.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54496" y="2532888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64224" y="26243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94576" y="262432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Dual-Phase Gameplay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64224" y="3044952"/>
            <a:ext cx="2514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</a:rPr>
              <a:t>Seamless state-machine transition from spaceship crash to astronaut spawn.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831336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" y="392277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97280" y="3922776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CI / CD Pipeline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4343400"/>
            <a:ext cx="2514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</a:rPr>
              <a:t>GitHub Actions auto-builds Windows + Linux on every push to main.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55848" y="3831336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65576" y="392277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995928" y="3922776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Zero-Dependency Release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65576" y="4343400"/>
            <a:ext cx="2514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</a:rPr>
              <a:t>Single .exe — no DLLs, no Visual C++ redistributable, no installer.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54496" y="3831336"/>
            <a:ext cx="27432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64224" y="392277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894576" y="3922776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120 FPS Game Loop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64224" y="4343400"/>
            <a:ext cx="2514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</a:rPr>
              <a:t>Fixed-rate update loop with delta-time physics for smooth gameplay.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IMPROVEMENTS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Bugs Fixed &amp; Improvements Achieved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926080" cy="457200"/>
          </a:xfrm>
          <a:prstGeom prst="rect">
            <a:avLst/>
          </a:prstGeom>
          <a:solidFill>
            <a:srgbClr val="1A55A3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Original Bug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234440"/>
            <a:ext cx="2651760" cy="457200"/>
          </a:xfrm>
          <a:prstGeom prst="rect">
            <a:avLst/>
          </a:prstGeom>
          <a:solidFill>
            <a:srgbClr val="1A55A3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2344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Root Cause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71616" y="1234440"/>
            <a:ext cx="3108960" cy="457200"/>
          </a:xfrm>
          <a:prstGeom prst="rect">
            <a:avLst/>
          </a:prstGeom>
          <a:solidFill>
            <a:srgbClr val="1A55A3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63056" y="123444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Fix Applied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2926080" cy="457200"/>
          </a:xfrm>
          <a:prstGeom prst="rect">
            <a:avLst/>
          </a:prstGeom>
          <a:solidFill>
            <a:srgbClr val="0D1F3C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69164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</a:rPr>
              <a:t>alien_timer += dt called twice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01568" y="1691640"/>
            <a:ext cx="2651760" cy="457200"/>
          </a:xfrm>
          <a:prstGeom prst="rect">
            <a:avLst/>
          </a:prstGeom>
          <a:solidFill>
            <a:srgbClr val="0D1F3C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6916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</a:rPr>
              <a:t>Logic inside draw loop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691640"/>
            <a:ext cx="3108960" cy="457200"/>
          </a:xfrm>
          <a:prstGeom prst="rect">
            <a:avLst/>
          </a:prstGeom>
          <a:solidFill>
            <a:srgbClr val="0D1F3C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69164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D0"/>
                </a:solidFill>
              </a:rPr>
              <a:t>AlienSpawner::update() called once per tick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2926080" cy="457200"/>
          </a:xfrm>
          <a:prstGeom prst="rect">
            <a:avLst/>
          </a:prstGeom>
          <a:solidFill>
            <a:srgbClr val="0A1628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14884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</a:rPr>
              <a:t>srand() at 120 FPS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01568" y="2148840"/>
            <a:ext cx="2651760" cy="457200"/>
          </a:xfrm>
          <a:prstGeom prst="rect">
            <a:avLst/>
          </a:prstGeom>
          <a:solidFill>
            <a:srgbClr val="0A1628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21488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</a:rPr>
              <a:t>In movement function body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1616" y="2148840"/>
            <a:ext cx="3108960" cy="457200"/>
          </a:xfrm>
          <a:prstGeom prst="rect">
            <a:avLst/>
          </a:prstGeom>
          <a:solidFill>
            <a:srgbClr val="0A1628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214884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D0"/>
                </a:solidFill>
              </a:rPr>
              <a:t>Called once in GameController constructor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2926080" cy="457200"/>
          </a:xfrm>
          <a:prstGeom prst="rect">
            <a:avLst/>
          </a:prstGeom>
          <a:solidFill>
            <a:srgbClr val="0D1F3C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0604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</a:rPr>
              <a:t>UnloadTexture() called twice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01568" y="2606040"/>
            <a:ext cx="2651760" cy="457200"/>
          </a:xfrm>
          <a:prstGeom prst="rect">
            <a:avLst/>
          </a:prstGeom>
          <a:solidFill>
            <a:srgbClr val="0D1F3C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6060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</a:rPr>
              <a:t>No ownership model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71616" y="2606040"/>
            <a:ext cx="3108960" cy="457200"/>
          </a:xfrm>
          <a:prstGeom prst="rect">
            <a:avLst/>
          </a:prstGeom>
          <a:solidFill>
            <a:srgbClr val="0D1F3C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260604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D0"/>
                </a:solidFill>
              </a:rPr>
              <a:t>RAII destructor in ResourceManager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063240"/>
            <a:ext cx="2926080" cy="457200"/>
          </a:xfrm>
          <a:prstGeom prst="rect">
            <a:avLst/>
          </a:prstGeom>
          <a:solidFill>
            <a:srgbClr val="0A1628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06324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</a:rPr>
              <a:t>DrawHealthBar() inside main()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01568" y="3063240"/>
            <a:ext cx="2651760" cy="457200"/>
          </a:xfrm>
          <a:prstGeom prst="rect">
            <a:avLst/>
          </a:prstGeom>
          <a:solidFill>
            <a:srgbClr val="0A1628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30632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</a:rPr>
              <a:t>No separation of concerns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71616" y="3063240"/>
            <a:ext cx="3108960" cy="457200"/>
          </a:xfrm>
          <a:prstGeom prst="rect">
            <a:avLst/>
          </a:prstGeom>
          <a:solidFill>
            <a:srgbClr val="0A1628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306324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D0"/>
                </a:solidFill>
              </a:rPr>
              <a:t>HUD::drawHealthBar() moved to View layer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520440"/>
            <a:ext cx="2926080" cy="457200"/>
          </a:xfrm>
          <a:prstGeom prst="rect">
            <a:avLst/>
          </a:prstGeom>
          <a:solidFill>
            <a:srgbClr val="0D1F3C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52044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</a:rPr>
              <a:t>~30 global variables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01568" y="3520440"/>
            <a:ext cx="2651760" cy="457200"/>
          </a:xfrm>
          <a:prstGeom prst="rect">
            <a:avLst/>
          </a:prstGeom>
          <a:solidFill>
            <a:srgbClr val="0D1F3C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35204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</a:rPr>
              <a:t>Flat single-file design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71616" y="3520440"/>
            <a:ext cx="3108960" cy="457200"/>
          </a:xfrm>
          <a:prstGeom prst="rect">
            <a:avLst/>
          </a:prstGeom>
          <a:solidFill>
            <a:srgbClr val="0D1F3C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352044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D0"/>
                </a:solidFill>
              </a:rPr>
              <a:t>All state is private to its owning class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977640"/>
            <a:ext cx="2926080" cy="457200"/>
          </a:xfrm>
          <a:prstGeom prst="rect">
            <a:avLst/>
          </a:prstGeom>
          <a:solidFill>
            <a:srgbClr val="0A1628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97764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99"/>
                </a:solidFill>
              </a:rPr>
              <a:t>6 copy-pasted collision loops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01568" y="3977640"/>
            <a:ext cx="2651760" cy="457200"/>
          </a:xfrm>
          <a:prstGeom prst="rect">
            <a:avLst/>
          </a:prstGeom>
          <a:solidFill>
            <a:srgbClr val="0A1628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9776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</a:rPr>
              <a:t>No abstraction layer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71616" y="3977640"/>
            <a:ext cx="3108960" cy="457200"/>
          </a:xfrm>
          <a:prstGeom prst="rect">
            <a:avLst/>
          </a:prstGeom>
          <a:solidFill>
            <a:srgbClr val="0A1628"/>
          </a:solidFill>
          <a:ln w="8890">
            <a:solidFill>
              <a:srgbClr val="1E30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63056" y="397764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FFD0"/>
                </a:solidFill>
              </a:rPr>
              <a:t>1 CollisionSystem::testBulletsVsEntities()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407408"/>
            <a:ext cx="1664208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" y="4453128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86FF"/>
                </a:solidFill>
              </a:rPr>
              <a:t>0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457200" y="4709160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Global Variables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194560" y="4407408"/>
            <a:ext cx="1664208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194560" y="4453128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86FF"/>
                </a:solidFill>
              </a:rPr>
              <a:t>1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2194560" y="4709160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Collision Method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31920" y="4407408"/>
            <a:ext cx="1664208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931920" y="4453128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86FF"/>
                </a:solidFill>
              </a:rPr>
              <a:t>44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3931920" y="4709160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Modular Files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669280" y="4407408"/>
            <a:ext cx="1664208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669280" y="4453128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86FF"/>
                </a:solidFill>
              </a:rPr>
              <a:t>5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5669280" y="4709160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SOLID Principles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406640" y="4407408"/>
            <a:ext cx="1664208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406640" y="4453128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86FF"/>
                </a:solidFill>
              </a:rPr>
              <a:t>2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7406640" y="4709160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CI Platforms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DEVOPS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3E"/>
                </a:solidFill>
              </a:rPr>
              <a:t>GitHub Development Workflow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822960" cy="82296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258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2267712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Push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258775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55"/>
                </a:solidFill>
              </a:rPr>
              <a:t>Developer pushes to main branch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29968" y="15087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DA9C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33472" y="1325880"/>
            <a:ext cx="822960" cy="822960"/>
          </a:xfrm>
          <a:prstGeom prst="ellipse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33472" y="13258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2267712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31136" y="258775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55"/>
                </a:solidFill>
              </a:rPr>
              <a:t>GitHub Actions workflow fires automatically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5087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DA9C4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52544" y="1325880"/>
            <a:ext cx="822960" cy="8229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52544" y="13258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005072" y="2267712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Windows Build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50208" y="258775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55"/>
                </a:solidFill>
              </a:rPr>
              <a:t>MSVC / CMake builds GeoWorld.exe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68112" y="15087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DA9C4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71616" y="1325880"/>
            <a:ext cx="822960" cy="8229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71616" y="13258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24144" y="2267712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Linux Build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258775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55"/>
                </a:solidFill>
              </a:rPr>
              <a:t>GCC / CMake builds GeoWorld binary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87184" y="15087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DA9C4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790688" y="1325880"/>
            <a:ext cx="822960" cy="82296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90688" y="13258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43216" y="2267712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Release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88352" y="258775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55"/>
                </a:solidFill>
              </a:rPr>
              <a:t>Tag a version → zips are attached to GitHub Release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37560"/>
            <a:ext cx="3931920" cy="155448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3429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86FF"/>
                </a:solidFill>
              </a:rPr>
              <a:t>Build from Source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79476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D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clone https://github.com/YOUR_USERNAME/geoworld.git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6D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geoworld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6D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cmake -B build -DCMAKE_BUILD_TYPE=Release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6D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cmake --build build --config Release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0" y="3337560"/>
            <a:ext cx="4114800" cy="1554480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9160" y="34290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Create a Release Tag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09160" y="379476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tag v1.0.0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push origin v1.0.0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Then publish the Release on GitHub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Zips attached automatically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Challenges During Refactoring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0" cy="1664208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166420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233C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Untangling Global State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84248"/>
            <a:ext cx="37947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</a:rPr>
              <a:t>~30 global variables were read and written from every function. Identifying true ownership for each piece of state — and routing mutations only through the Controller — required careful analysis of every data dependency.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14800" cy="1664208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64008" cy="16642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258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703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83480" y="167335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Breaking Circular 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984248"/>
            <a:ext cx="37947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</a:rPr>
              <a:t>The original code included rendering headers inside logic files and vice versa. Introducing IObserver as the sole notification bridge eliminated the circular dependency without coupling Model to View.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0" cy="1664208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64008" cy="166420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96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86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345643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Preserving Gameplay Feel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767328"/>
            <a:ext cx="37947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</a:rPr>
              <a:t>Refactoring must be behaviour-preserving. Each extracted system (Physics, Collision, Spawners) had to produce identical observable results to the original despite running through a completely different call graph.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4114800" cy="1664208"/>
          </a:xfrm>
          <a:prstGeom prst="rect">
            <a:avLst/>
          </a:prstGeom>
          <a:solidFill>
            <a:srgbClr val="0A1628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17520"/>
            <a:ext cx="64008" cy="16642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10896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D6A0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83480" y="345643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Cross-Platform CI Setup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767328"/>
            <a:ext cx="37947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</a:rPr>
              <a:t>Configuring GitHub Actions to build correctly on both Windows (MSVC) and Linux (GCC) with CMake FetchContent for raylib required careful dependency management and artifact path handling.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3E"/>
                </a:solidFill>
              </a:rPr>
              <a:t>Future Improvements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743200" cy="38404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🧪 Unit Tests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755648"/>
            <a:ext cx="252374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Add GoogleTest suite — MVC decoupling already enables mocking GameModel for isolated component tests.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1280160"/>
            <a:ext cx="27432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280160"/>
            <a:ext cx="2743200" cy="384048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3258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👾 More Enemy Types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65576" y="1755648"/>
            <a:ext cx="252374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New enemies simply extend ICollidable — CollisionSystem and spawners remain unchanged (OCP in action).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4496" y="1280160"/>
            <a:ext cx="27432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1280160"/>
            <a:ext cx="274320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3258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🗺 Level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64224" y="1755648"/>
            <a:ext cx="252374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Extend GameState enum with Level states; add a LevelLoader to ResourceManager for map data.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27432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63240"/>
            <a:ext cx="2743200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08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⚙ Config File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3538728"/>
            <a:ext cx="252374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Externalise key bindings and physics constants to a JSON config file parsed at startup.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55848" y="3063240"/>
            <a:ext cx="27432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55848" y="3063240"/>
            <a:ext cx="2743200" cy="38404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3108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🍎 macOS Build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65576" y="3538728"/>
            <a:ext cx="252374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Add macOS target to GitHub Actions CI — CMakeLists.txt already supports it with no code changes.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54496" y="3063240"/>
            <a:ext cx="27432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4496" y="3063240"/>
            <a:ext cx="2743200" cy="384048"/>
          </a:xfrm>
          <a:prstGeom prst="rect">
            <a:avLst/>
          </a:prstGeom>
          <a:solidFill>
            <a:srgbClr val="FF8C69"/>
          </a:solidFill>
          <a:ln w="12700">
            <a:solidFill>
              <a:srgbClr val="FF8C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3108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💾 Save / High Score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64224" y="3538728"/>
            <a:ext cx="252374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Persist SessionStats to disk via a dedicated SaveSystem class — one new module, zero changes elsewhere.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142050">
              <a:alpha val="70000"/>
            </a:srgbClr>
          </a:solidFill>
          <a:ln w="12700">
            <a:solidFill>
              <a:srgbClr val="142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3A86FF">
              <a:alpha val="20000"/>
            </a:srgbClr>
          </a:solidFill>
          <a:ln w="12700">
            <a:solidFill>
              <a:srgbClr val="3A86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115568"/>
            <a:ext cx="22860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576072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MVC enforces a clean boundary — Model owns state, View only reads, Controller is the sole mutator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SOLID principles made every improvement modular: a new enemy, state, or input type touches only the relevant file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Six real bugs from the original C code were fixed as natural consequences of correct architecture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GitHub Actions delivers verified Windows + Linux builds automatically on every push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The codebase is now testable, extensible, and ready to grow — not just refactored, but redesigned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896112" cy="274320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977640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C++17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00784" y="3977640"/>
            <a:ext cx="896112" cy="274320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00784" y="3977640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raylib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70048" y="3977640"/>
            <a:ext cx="896112" cy="274320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70048" y="3977640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MVC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39312" y="3977640"/>
            <a:ext cx="896112" cy="274320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39312" y="3977640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SOLID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3977640"/>
            <a:ext cx="896112" cy="274320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08576" y="3977640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CMake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77840" y="3977640"/>
            <a:ext cx="896112" cy="274320"/>
          </a:xfrm>
          <a:prstGeom prst="rect">
            <a:avLst/>
          </a:prstGeom>
          <a:solidFill>
            <a:srgbClr val="1A55A3"/>
          </a:solidFill>
          <a:ln w="12700">
            <a:solidFill>
              <a:srgbClr val="1A55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3977640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GitHub Actions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A86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31520" y="47548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DA9C4"/>
                </a:solidFill>
              </a:rPr>
              <a:t>Questions &amp; Discussion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75120" y="1280160"/>
            <a:ext cx="201168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20840" y="141732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86FF"/>
                </a:solidFill>
              </a:rPr>
              <a:t>44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20840" y="1737360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A9C4"/>
                </a:solidFill>
              </a:rPr>
              <a:t>Source Files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20840" y="2093976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86FF"/>
                </a:solidFill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720840" y="2414016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A9C4"/>
                </a:solidFill>
              </a:rPr>
              <a:t>SOLID Applied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20840" y="277063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86FF"/>
                </a:solidFill>
              </a:rPr>
              <a:t>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720840" y="309067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A9C4"/>
                </a:solidFill>
              </a:rPr>
              <a:t>Globals Left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20840" y="34472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86FF"/>
                </a:solidFill>
              </a:rPr>
              <a:t>6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720840" y="3767328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A9C4"/>
                </a:solidFill>
              </a:rPr>
              <a:t>Bugs Fixed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20840" y="412394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86FF"/>
                </a:solidFill>
              </a:rPr>
              <a:t>2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720840" y="444398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A9C4"/>
                </a:solidFill>
              </a:rPr>
              <a:t>CI Platforms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8928</Words>
  <Application>WPS Presentation</Application>
  <PresentationFormat>On-screen Show (16:9)</PresentationFormat>
  <Paragraphs>553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GeoWorld — Space Outage</dc:title>
  <dc:creator>Tahmid Hossain Jasbe</dc:creator>
  <dc:subject>PptxGenJS Presentation</dc:subject>
  <cp:lastModifiedBy>Nafis Habib</cp:lastModifiedBy>
  <cp:revision>2</cp:revision>
  <dcterms:created xsi:type="dcterms:W3CDTF">2026-05-10T18:17:00Z</dcterms:created>
  <dcterms:modified xsi:type="dcterms:W3CDTF">2026-05-10T18:25:55Z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172771B61793423699DD90A73AE5301C_12</vt:lpwstr>
  </property>
  <property fmtid="{D5CDD505-2E9C-101B-9397-08002B2CF9AE}" pid="3" name="KSOProductBuildVer">
    <vt:lpwstr>1033-12.1.0.25242</vt:lpwstr>
  </property>
</Properties>
</file>